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mp-code-guid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mp-code-guid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ca841b963207d7a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e65859b7ff80e3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13dd937d678136c.png"/>
  <Relationship Id="rId3" Type="http://schemas.openxmlformats.org/officeDocument/2006/relationships/image" Target="../media/image_1c78995ff677ebd5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9f72c0a6939692.png"/>
  <Relationship Id="rId3" Type="http://schemas.openxmlformats.org/officeDocument/2006/relationships/image" Target="../media/image_a9892c9adf74656e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30063a4c066b43a.png"/>
  <Relationship Id="rId3" Type="http://schemas.openxmlformats.org/officeDocument/2006/relationships/image" Target="../media/image_5d01052e14debbdd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b02cf569ac003b0.png"/>
  <Relationship Id="rId3" Type="http://schemas.openxmlformats.org/officeDocument/2006/relationships/image" Target="../media/image_3efef2e5d22f7168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90550" y="1745456"/>
            <a:ext cx="10991850" cy="2521173"/>
            <a:chOff x="590550" y="1745456"/>
            <a:chExt cx="10991850" cy="2521173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1745456"/>
              <a:ext cx="19883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КРАТКАЯ ИНСТРУКЦИЯ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2145030"/>
              <a:ext cx="4420168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6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OMP Code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3238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9694" y="3523298"/>
              <a:ext cx="6136767" cy="743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ru-RU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Кодинг-агент в стиле Claude Code внутри VS Code —</a:t>
              </a:r>
              <a:br/>
              <a:r>
                <a:rPr lang="ru-RU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 той модели, за которую вы уже платите.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9694" y="4991100"/>
            <a:ext cx="10982706" cy="685229"/>
            <a:chOff x="599694" y="4991100"/>
            <a:chExt cx="10982706" cy="685229"/>
          </a:xfrm>
        </p:grpSpPr>
        <p:sp>
          <p:nvSpPr>
            <p:cNvPr id="7" name="Line 7"/>
            <p:cNvSpPr/>
            <p:nvPr/>
          </p:nvSpPr>
          <p:spPr>
            <a:xfrm>
              <a:off x="609600" y="4991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9694" y="52949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6894" y="5294948"/>
              <a:ext cx="132740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Установка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038600" y="52197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09694" y="52949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66894" y="5294948"/>
              <a:ext cx="18396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Первый запуск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848600" y="521970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19694" y="52949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6894" y="5294948"/>
              <a:ext cx="12623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умеет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6421854"/>
            <a:ext cx="10978515" cy="229930"/>
            <a:chOff x="609600" y="6421854"/>
            <a:chExt cx="10978515" cy="229930"/>
          </a:xfrm>
        </p:grpSpPr>
        <p:sp>
          <p:nvSpPr>
            <p:cNvPr id="17" name="Freeform 17"/>
            <p:cNvSpPr/>
            <p:nvPr/>
          </p:nvSpPr>
          <p:spPr>
            <a:xfrm>
              <a:off x="609600" y="6421854"/>
              <a:ext cx="161925" cy="158538"/>
            </a:xfrm>
            <a:custGeom>
              <a:avLst/>
              <a:gdLst/>
              <a:ahLst/>
              <a:cxnLst/>
              <a:rect l="l" t="t" r="r" b="b"/>
              <a:pathLst>
                <a:path w="161925" h="158538">
                  <a:moveTo>
                    <a:pt x="80962" y="0"/>
                  </a:moveTo>
                  <a:cubicBezTo>
                    <a:pt x="36231" y="0"/>
                    <a:pt x="0" y="36251"/>
                    <a:pt x="0" y="80962"/>
                  </a:cubicBezTo>
                  <a:cubicBezTo>
                    <a:pt x="0" y="116741"/>
                    <a:pt x="23196" y="147082"/>
                    <a:pt x="55358" y="157776"/>
                  </a:cubicBezTo>
                  <a:cubicBezTo>
                    <a:pt x="59406" y="158538"/>
                    <a:pt x="60891" y="156035"/>
                    <a:pt x="60891" y="153883"/>
                  </a:cubicBezTo>
                  <a:cubicBezTo>
                    <a:pt x="60891" y="151960"/>
                    <a:pt x="60823" y="146866"/>
                    <a:pt x="60789" y="140119"/>
                  </a:cubicBezTo>
                  <a:cubicBezTo>
                    <a:pt x="38268" y="145004"/>
                    <a:pt x="33518" y="129257"/>
                    <a:pt x="33518" y="129257"/>
                  </a:cubicBezTo>
                  <a:cubicBezTo>
                    <a:pt x="29835" y="119912"/>
                    <a:pt x="24511" y="117416"/>
                    <a:pt x="24511" y="117416"/>
                  </a:cubicBezTo>
                  <a:cubicBezTo>
                    <a:pt x="17178" y="112396"/>
                    <a:pt x="25078" y="112497"/>
                    <a:pt x="25078" y="112497"/>
                  </a:cubicBezTo>
                  <a:cubicBezTo>
                    <a:pt x="33208" y="113064"/>
                    <a:pt x="37479" y="120836"/>
                    <a:pt x="37479" y="120836"/>
                  </a:cubicBezTo>
                  <a:cubicBezTo>
                    <a:pt x="44698" y="133217"/>
                    <a:pt x="56431" y="129641"/>
                    <a:pt x="61059" y="127570"/>
                  </a:cubicBezTo>
                  <a:cubicBezTo>
                    <a:pt x="61788" y="122334"/>
                    <a:pt x="63873" y="118765"/>
                    <a:pt x="66187" y="116741"/>
                  </a:cubicBezTo>
                  <a:cubicBezTo>
                    <a:pt x="48206" y="114717"/>
                    <a:pt x="29308" y="107754"/>
                    <a:pt x="29308" y="76732"/>
                  </a:cubicBezTo>
                  <a:cubicBezTo>
                    <a:pt x="29308" y="67894"/>
                    <a:pt x="32446" y="60675"/>
                    <a:pt x="37641" y="55007"/>
                  </a:cubicBezTo>
                  <a:cubicBezTo>
                    <a:pt x="36730" y="52963"/>
                    <a:pt x="33997" y="44732"/>
                    <a:pt x="38349" y="33579"/>
                  </a:cubicBezTo>
                  <a:cubicBezTo>
                    <a:pt x="38349" y="33579"/>
                    <a:pt x="45130" y="31407"/>
                    <a:pt x="60614" y="41878"/>
                  </a:cubicBezTo>
                  <a:cubicBezTo>
                    <a:pt x="67091" y="40076"/>
                    <a:pt x="73973" y="39186"/>
                    <a:pt x="80855" y="39145"/>
                  </a:cubicBezTo>
                  <a:cubicBezTo>
                    <a:pt x="87736" y="39186"/>
                    <a:pt x="94618" y="40076"/>
                    <a:pt x="101095" y="41878"/>
                  </a:cubicBezTo>
                  <a:cubicBezTo>
                    <a:pt x="116478" y="31407"/>
                    <a:pt x="123259" y="33579"/>
                    <a:pt x="123259" y="33579"/>
                  </a:cubicBezTo>
                  <a:cubicBezTo>
                    <a:pt x="127610" y="44732"/>
                    <a:pt x="124878" y="52963"/>
                    <a:pt x="124068" y="55007"/>
                  </a:cubicBezTo>
                  <a:cubicBezTo>
                    <a:pt x="129230" y="60675"/>
                    <a:pt x="132367" y="67894"/>
                    <a:pt x="132367" y="76732"/>
                  </a:cubicBezTo>
                  <a:cubicBezTo>
                    <a:pt x="132367" y="107835"/>
                    <a:pt x="113442" y="114683"/>
                    <a:pt x="95428" y="116674"/>
                  </a:cubicBezTo>
                  <a:cubicBezTo>
                    <a:pt x="98261" y="119103"/>
                    <a:pt x="100893" y="124068"/>
                    <a:pt x="100893" y="131652"/>
                  </a:cubicBezTo>
                  <a:cubicBezTo>
                    <a:pt x="100893" y="142487"/>
                    <a:pt x="100792" y="151191"/>
                    <a:pt x="100792" y="153822"/>
                  </a:cubicBezTo>
                  <a:cubicBezTo>
                    <a:pt x="100792" y="155947"/>
                    <a:pt x="102208" y="158477"/>
                    <a:pt x="106358" y="157668"/>
                  </a:cubicBezTo>
                  <a:cubicBezTo>
                    <a:pt x="138749" y="147048"/>
                    <a:pt x="161925" y="116687"/>
                    <a:pt x="161925" y="80962"/>
                  </a:cubicBezTo>
                  <a:cubicBezTo>
                    <a:pt x="161925" y="36251"/>
                    <a:pt x="125674" y="0"/>
                    <a:pt x="80962" y="0"/>
                  </a:cubicBezTo>
                </a:path>
              </a:pathLst>
            </a:custGeom>
            <a:solidFill>
              <a:srgbClr val="6B667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585" y="6431756"/>
              <a:ext cx="3516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github.com/cryptotyan-star/omp-code-vscode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07255" y="6431756"/>
              <a:ext cx="9808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Лицензия MIT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13798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ЧТО ЭТО ТАКОЕ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930908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Расширение — это GUI. Работу делает CLI-агент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99694" y="1827848"/>
            <a:ext cx="4221296" cy="2018347"/>
            <a:chOff x="599694" y="1827848"/>
            <a:chExt cx="4221296" cy="2018347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1827848"/>
              <a:ext cx="29201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Расширение OMP Code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885" y="2240756"/>
              <a:ext cx="2037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Панель чата внутри VS Code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84797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580" y="2752725"/>
              <a:ext cx="3929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Рисует диалог и карточки инструментов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324802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0580" y="3152775"/>
              <a:ext cx="35455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Показывает diff и стоимость сессии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9600" y="364807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0580" y="3552825"/>
              <a:ext cx="3990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Ни сервера, ни телеметрии, ни аккаунта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0" y="2640806"/>
            <a:ext cx="685800" cy="330995"/>
            <a:chOff x="5715000" y="2640806"/>
            <a:chExt cx="685800" cy="330995"/>
          </a:xfrm>
        </p:grpSpPr>
        <p:sp>
          <p:nvSpPr>
            <p:cNvPr id="15" name="TextBox 15"/>
            <p:cNvSpPr txBox="1"/>
            <p:nvPr/>
          </p:nvSpPr>
          <p:spPr>
            <a:xfrm>
              <a:off x="5952284" y="2640806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RPC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715000" y="2971800"/>
              <a:ext cx="6858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581394" y="1827848"/>
            <a:ext cx="4382273" cy="2018347"/>
            <a:chOff x="6581394" y="1827848"/>
            <a:chExt cx="4382273" cy="2018347"/>
          </a:xfrm>
        </p:grpSpPr>
        <p:sp>
          <p:nvSpPr>
            <p:cNvPr id="18" name="TextBox 18"/>
            <p:cNvSpPr txBox="1"/>
            <p:nvPr/>
          </p:nvSpPr>
          <p:spPr>
            <a:xfrm>
              <a:off x="6581394" y="1827848"/>
              <a:ext cx="19370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CLI-агент omp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5585" y="2240756"/>
              <a:ext cx="2467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Пакет @oh-my-pi/pi-coding-agent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91300" y="284797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12280" y="2752725"/>
              <a:ext cx="4151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Вызывает модели и выполняет инструменты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591300" y="324802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12280" y="3152775"/>
              <a:ext cx="41010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Хранит сессии и учётные данные подписок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91300" y="3648075"/>
              <a:ext cx="1143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12280" y="3552825"/>
              <a:ext cx="3374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Ставится отдельно — первым шагом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4305300"/>
            <a:ext cx="10972800" cy="914400"/>
            <a:chOff x="609600" y="4305300"/>
            <a:chExt cx="10972800" cy="914400"/>
          </a:xfrm>
        </p:grpSpPr>
        <p:sp>
          <p:nvSpPr>
            <p:cNvPr id="27" name="Rectangle 27"/>
            <p:cNvSpPr/>
            <p:nvPr/>
          </p:nvSpPr>
          <p:spPr>
            <a:xfrm>
              <a:off x="609600" y="4305300"/>
              <a:ext cx="109728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4305300"/>
              <a:ext cx="28575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96059" y="4580478"/>
              <a:ext cx="208123" cy="178805"/>
              <a:chOff x="896059" y="4580478"/>
              <a:chExt cx="208123" cy="17880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000125" y="4645818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96059" y="4580478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00125" y="47180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287780" y="4505325"/>
              <a:ext cx="8540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Без установленного бинарника omp панель не стартует — это не опциональная зависимость.</a:t>
              </a:r>
              <a:br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Ключи и код уходят ровно туда, куда их отправляет omp, и никуда больше.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885" y="5688806"/>
            <a:ext cx="5231408" cy="220028"/>
            <a:chOff x="603885" y="5688806"/>
            <a:chExt cx="5231408" cy="220028"/>
          </a:xfrm>
        </p:grpSpPr>
        <p:sp>
          <p:nvSpPr>
            <p:cNvPr id="35" name="TextBox 35"/>
            <p:cNvSpPr txBox="1"/>
            <p:nvPr/>
          </p:nvSpPr>
          <p:spPr>
            <a:xfrm>
              <a:off x="603885" y="5688806"/>
              <a:ext cx="5231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Проект не аффилирован с oh-my-pi, Anthropic и провайдерами моделей.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37" name="TextBox 37"/>
            <p:cNvSpPr txBox="1"/>
            <p:nvPr/>
          </p:nvSpPr>
          <p:spPr>
            <a:xfrm>
              <a:off x="603885" y="6431756"/>
              <a:ext cx="1019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Что это такое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1313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УСТАНОВКА · ШАГИ 1–2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72737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Поставьте агента, затем расширение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90550" y="1770698"/>
            <a:ext cx="10991850" cy="1737836"/>
            <a:chOff x="590550" y="1770698"/>
            <a:chExt cx="10991850" cy="1737836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83261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23594" y="1770698"/>
              <a:ext cx="29503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Поставьте CLI-агента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5880" y="2124075"/>
              <a:ext cx="3739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Расширение — только GUI поверх него.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333500" y="2495550"/>
              <a:ext cx="102489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333500" y="2495550"/>
              <a:ext cx="2857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54480" y="2628900"/>
              <a:ext cx="4043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bun install -g @oh-my-pi/pi-coding-agent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7785" y="3078956"/>
              <a:ext cx="6180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Нет bun — curl -fsSL https://bun.sh/install | bash, затем перезапустите терминал.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7785" y="3288506"/>
              <a:ext cx="5931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Расширение ищет omp в PATH; свой путь задаётся настройкой ompcode.ompPath.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0550" y="3676650"/>
            <a:ext cx="10991850" cy="1698784"/>
            <a:chOff x="590550" y="3676650"/>
            <a:chExt cx="10991850" cy="1698784"/>
          </a:xfrm>
        </p:grpSpPr>
        <p:sp>
          <p:nvSpPr>
            <p:cNvPr id="15" name="Line 15"/>
            <p:cNvSpPr/>
            <p:nvPr/>
          </p:nvSpPr>
          <p:spPr>
            <a:xfrm>
              <a:off x="609600" y="3676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0550" y="390906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3594" y="3847148"/>
              <a:ext cx="29917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Поставьте расширение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5880" y="4200525"/>
              <a:ext cx="67104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Скачайте .vsix из Releases и перетащите в панель Extensions — или: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333500" y="4572000"/>
              <a:ext cx="102489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333500" y="4572000"/>
              <a:ext cx="2857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54480" y="4705350"/>
              <a:ext cx="49221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code --install-extension omp-code-&lt;версия&gt;.vsix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7785" y="5155406"/>
              <a:ext cx="39697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После установки перезагрузите окно: Reload Window.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5505450"/>
            <a:ext cx="10972800" cy="819150"/>
            <a:chOff x="609600" y="5505450"/>
            <a:chExt cx="10972800" cy="819150"/>
          </a:xfrm>
        </p:grpSpPr>
        <p:sp>
          <p:nvSpPr>
            <p:cNvPr id="24" name="Rectangle 24"/>
            <p:cNvSpPr/>
            <p:nvPr/>
          </p:nvSpPr>
          <p:spPr>
            <a:xfrm>
              <a:off x="609600" y="5505450"/>
              <a:ext cx="109728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9600" y="5505450"/>
              <a:ext cx="28575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94539" y="5740411"/>
              <a:ext cx="192114" cy="165051"/>
              <a:chOff x="894539" y="5740411"/>
              <a:chExt cx="192114" cy="16505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990600" y="580072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94539" y="5740411"/>
                <a:ext cx="192114" cy="165051"/>
              </a:xfrm>
              <a:custGeom>
                <a:avLst/>
                <a:gdLst/>
                <a:ahLst/>
                <a:cxnLst/>
                <a:rect l="l" t="t" r="r" b="b"/>
                <a:pathLst>
                  <a:path w="192114" h="165051">
                    <a:moveTo>
                      <a:pt x="80468" y="8794"/>
                    </a:moveTo>
                    <a:lnTo>
                      <a:pt x="3259" y="137705"/>
                    </a:lnTo>
                    <a:cubicBezTo>
                      <a:pt x="20" y="143314"/>
                      <a:pt x="0" y="150220"/>
                      <a:pt x="3207" y="155848"/>
                    </a:cubicBezTo>
                    <a:cubicBezTo>
                      <a:pt x="6413" y="161475"/>
                      <a:pt x="12365" y="164979"/>
                      <a:pt x="18842" y="165051"/>
                    </a:cubicBezTo>
                    <a:lnTo>
                      <a:pt x="173280" y="165051"/>
                    </a:lnTo>
                    <a:cubicBezTo>
                      <a:pt x="179753" y="164977"/>
                      <a:pt x="185702" y="161474"/>
                      <a:pt x="188908" y="155850"/>
                    </a:cubicBezTo>
                    <a:cubicBezTo>
                      <a:pt x="192114" y="150226"/>
                      <a:pt x="192097" y="143323"/>
                      <a:pt x="188863" y="137715"/>
                    </a:cubicBezTo>
                    <a:lnTo>
                      <a:pt x="111653" y="8784"/>
                    </a:lnTo>
                    <a:cubicBezTo>
                      <a:pt x="108349" y="3331"/>
                      <a:pt x="102437" y="0"/>
                      <a:pt x="96061" y="0"/>
                    </a:cubicBezTo>
                    <a:cubicBezTo>
                      <a:pt x="89685" y="0"/>
                      <a:pt x="83772" y="3331"/>
                      <a:pt x="80468" y="8784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90600" y="58674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251585" y="5650706"/>
              <a:ext cx="8666734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Обновляетесь со сборки старше 0.5.0? Идентификатор расширения сменился, поэтому новая версия встанет рядом со старой: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две одинаковые иконки в заголовке редактора и задвоенные команды в палитре.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Уберите старую — code --uninstall-extension local.omp-code — и перезагрузите окно.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32" name="TextBox 32"/>
            <p:cNvSpPr txBox="1"/>
            <p:nvPr/>
          </p:nvSpPr>
          <p:spPr>
            <a:xfrm>
              <a:off x="603885" y="6431756"/>
              <a:ext cx="762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Установка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17913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УСТАНОВКА · ШАГ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920862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Шаг 3 — войдите по подписке или добавьте ключ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1980" y="1827848"/>
            <a:ext cx="4771263" cy="2023586"/>
            <a:chOff x="601980" y="1827848"/>
            <a:chExt cx="4771263" cy="2023586"/>
          </a:xfrm>
        </p:grpSpPr>
        <p:grpSp>
          <p:nvGrpSpPr>
            <p:cNvPr id="9" name="Group 9"/>
            <p:cNvGrpSpPr/>
            <p:nvPr/>
          </p:nvGrpSpPr>
          <p:grpSpPr>
            <a:xfrm>
              <a:off x="666750" y="1857375"/>
              <a:ext cx="142875" cy="171450"/>
              <a:chOff x="666750" y="1857375"/>
              <a:chExt cx="142875" cy="17145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685800" y="18573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66750" y="1971675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0" y="57150"/>
                    </a:move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52475" y="1990725"/>
                <a:ext cx="571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38100">
                    <a:moveTo>
                      <a:pt x="0" y="19050"/>
                    </a:moveTo>
                    <a:lnTo>
                      <a:pt x="19050" y="38100"/>
                    </a:ln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942594" y="1827848"/>
              <a:ext cx="24631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Подписка (OAuth)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980" y="2200275"/>
              <a:ext cx="4545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Агент работает на вашем действующем тарифе.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980" y="2447925"/>
              <a:ext cx="337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Ключ не нужен, пополнять нечего.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850356"/>
              <a:ext cx="3304286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Sign in with Claude (Subscription)</a:t>
              </a:r>
              <a:br/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Sign in with Kimi Code (Subscription)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885" y="3421856"/>
              <a:ext cx="476935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Откроется вкладка браузера. Если провайдер попросит код обратно,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панель покажет его с кнопкой копирования.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1980" y="4019550"/>
            <a:ext cx="6065520" cy="2251234"/>
            <a:chOff x="601980" y="4019550"/>
            <a:chExt cx="6065520" cy="2251234"/>
          </a:xfrm>
        </p:grpSpPr>
        <p:sp>
          <p:nvSpPr>
            <p:cNvPr id="16" name="Line 16"/>
            <p:cNvSpPr/>
            <p:nvPr/>
          </p:nvSpPr>
          <p:spPr>
            <a:xfrm>
              <a:off x="609600" y="401955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38175" y="4219577"/>
              <a:ext cx="171448" cy="171448"/>
              <a:chOff x="638175" y="4219577"/>
              <a:chExt cx="171448" cy="17144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38175" y="4219577"/>
                <a:ext cx="171448" cy="171448"/>
              </a:xfrm>
              <a:custGeom>
                <a:avLst/>
                <a:gdLst/>
                <a:ahLst/>
                <a:cxnLst/>
                <a:rect l="l" t="t" r="r" b="b"/>
                <a:pathLst>
                  <a:path w="171448" h="171448">
                    <a:moveTo>
                      <a:pt x="129111" y="8028"/>
                    </a:moveTo>
                    <a:lnTo>
                      <a:pt x="163420" y="42337"/>
                    </a:lnTo>
                    <a:cubicBezTo>
                      <a:pt x="168560" y="47476"/>
                      <a:pt x="171448" y="54447"/>
                      <a:pt x="171448" y="61715"/>
                    </a:cubicBezTo>
                    <a:cubicBezTo>
                      <a:pt x="171448" y="68984"/>
                      <a:pt x="168560" y="75955"/>
                      <a:pt x="163420" y="81094"/>
                    </a:cubicBezTo>
                    <a:lnTo>
                      <a:pt x="138246" y="106269"/>
                    </a:lnTo>
                    <a:cubicBezTo>
                      <a:pt x="133107" y="111409"/>
                      <a:pt x="126136" y="114296"/>
                      <a:pt x="118867" y="114296"/>
                    </a:cubicBezTo>
                    <a:cubicBezTo>
                      <a:pt x="111599" y="114296"/>
                      <a:pt x="104628" y="111409"/>
                      <a:pt x="99489" y="106269"/>
                    </a:cubicBezTo>
                    <a:lnTo>
                      <a:pt x="96622" y="103402"/>
                    </a:lnTo>
                    <a:lnTo>
                      <a:pt x="34157" y="165867"/>
                    </a:lnTo>
                    <a:cubicBezTo>
                      <a:pt x="30992" y="169031"/>
                      <a:pt x="26814" y="170980"/>
                      <a:pt x="22355" y="171372"/>
                    </a:cubicBezTo>
                    <a:lnTo>
                      <a:pt x="20688" y="171448"/>
                    </a:lnTo>
                    <a:lnTo>
                      <a:pt x="9525" y="171448"/>
                    </a:lnTo>
                    <a:cubicBezTo>
                      <a:pt x="4696" y="171448"/>
                      <a:pt x="632" y="167833"/>
                      <a:pt x="67" y="163038"/>
                    </a:cubicBezTo>
                    <a:lnTo>
                      <a:pt x="0" y="161923"/>
                    </a:lnTo>
                    <a:lnTo>
                      <a:pt x="0" y="150760"/>
                    </a:lnTo>
                    <a:cubicBezTo>
                      <a:pt x="1" y="146287"/>
                      <a:pt x="1576" y="141958"/>
                      <a:pt x="4448" y="138530"/>
                    </a:cubicBezTo>
                    <a:lnTo>
                      <a:pt x="5582" y="137292"/>
                    </a:lnTo>
                    <a:lnTo>
                      <a:pt x="9525" y="133348"/>
                    </a:lnTo>
                    <a:lnTo>
                      <a:pt x="28575" y="133348"/>
                    </a:lnTo>
                    <a:lnTo>
                      <a:pt x="28575" y="114298"/>
                    </a:lnTo>
                    <a:lnTo>
                      <a:pt x="47625" y="114298"/>
                    </a:lnTo>
                    <a:lnTo>
                      <a:pt x="47625" y="95248"/>
                    </a:lnTo>
                    <a:lnTo>
                      <a:pt x="68047" y="74827"/>
                    </a:lnTo>
                    <a:lnTo>
                      <a:pt x="65180" y="71960"/>
                    </a:lnTo>
                    <a:cubicBezTo>
                      <a:pt x="60040" y="66820"/>
                      <a:pt x="57152" y="59849"/>
                      <a:pt x="57152" y="52581"/>
                    </a:cubicBezTo>
                    <a:cubicBezTo>
                      <a:pt x="57152" y="45312"/>
                      <a:pt x="60040" y="38342"/>
                      <a:pt x="65180" y="33202"/>
                    </a:cubicBezTo>
                    <a:lnTo>
                      <a:pt x="90354" y="8028"/>
                    </a:lnTo>
                    <a:cubicBezTo>
                      <a:pt x="95493" y="2888"/>
                      <a:pt x="102464" y="0"/>
                      <a:pt x="109733" y="0"/>
                    </a:cubicBezTo>
                    <a:cubicBezTo>
                      <a:pt x="117001" y="0"/>
                      <a:pt x="123972" y="2888"/>
                      <a:pt x="129111" y="8028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52475" y="42767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942594" y="4190048"/>
              <a:ext cx="13427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API-ключи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980" y="4562475"/>
              <a:ext cx="3929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Четыре провайдера, команда на каждый: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3885" y="4926806"/>
              <a:ext cx="3418078" cy="905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Set Anthropic API Key</a:t>
              </a:r>
              <a:br/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Set Kimi (Moonshot) API Key</a:t>
              </a:r>
              <a:br/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Set GLM (Zhipu BigModel) API Key</a:t>
              </a:r>
              <a:br/>
              <a:r>
                <a:rPr lang="ru-RU" sz="112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Set Qwen (Alibaba Coding Plan) API Key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3885" y="5841206"/>
              <a:ext cx="575081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Ключи живут в VS Code Secret Storage, не в settings.json, и передаются агенту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переменными окружения. Ключ, начавший отвечать 401, панель предложит удалить.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239000" y="1676400"/>
            <a:ext cx="4343400" cy="4610100"/>
            <a:chOff x="7239000" y="1676400"/>
            <a:chExt cx="4343400" cy="4610100"/>
          </a:xfrm>
        </p:grpSpPr>
        <p:sp>
          <p:nvSpPr>
            <p:cNvPr id="25" name="Rectangle 25"/>
            <p:cNvSpPr/>
            <p:nvPr/>
          </p:nvSpPr>
          <p:spPr>
            <a:xfrm>
              <a:off x="7239000" y="1676400"/>
              <a:ext cx="4343400" cy="461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0550" y="2057400"/>
              <a:ext cx="2400300" cy="377190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7585517" y="5974556"/>
              <a:ext cx="3650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Карточка ключей: вход по подписке и четыре поля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29" name="TextBox 29"/>
            <p:cNvSpPr txBox="1"/>
            <p:nvPr/>
          </p:nvSpPr>
          <p:spPr>
            <a:xfrm>
              <a:off x="603885" y="6431756"/>
              <a:ext cx="7624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Установка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698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КАК ПОЛЬЗОВАТЬСЯ · ПАНЕЛЬ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83011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Откройте чат и разберите панель на части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1771650"/>
            <a:ext cx="6057900" cy="457200"/>
            <a:chOff x="609600" y="1771650"/>
            <a:chExt cx="6057900" cy="457200"/>
          </a:xfrm>
        </p:grpSpPr>
        <p:sp>
          <p:nvSpPr>
            <p:cNvPr id="6" name="Rectangle 6"/>
            <p:cNvSpPr/>
            <p:nvPr/>
          </p:nvSpPr>
          <p:spPr>
            <a:xfrm>
              <a:off x="609600" y="1771650"/>
              <a:ext cx="60579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71650"/>
              <a:ext cx="2857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905000"/>
              <a:ext cx="5129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Иконка OMP Code в activity bar или Cmd/Ctrl+Alt+O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0075" y="2505075"/>
            <a:ext cx="5150569" cy="2198370"/>
            <a:chOff x="600075" y="2505075"/>
            <a:chExt cx="5150569" cy="2198370"/>
          </a:xfrm>
        </p:grpSpPr>
        <p:sp>
          <p:nvSpPr>
            <p:cNvPr id="10" name="Ellipse 10"/>
            <p:cNvSpPr/>
            <p:nvPr/>
          </p:nvSpPr>
          <p:spPr>
            <a:xfrm>
              <a:off x="600075" y="25050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4649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524125"/>
              <a:ext cx="34246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Блок рассуждения — сворачивается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00075" y="313372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4649" y="31932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2980" y="3152775"/>
              <a:ext cx="4767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Карточка инструмента: аргументы, статус, diff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00075" y="37623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4649" y="38219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2980" y="3781425"/>
              <a:ext cx="41821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Ответ — потоковый markdown с подсветкой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00075" y="439102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4649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2980" y="4410075"/>
              <a:ext cx="42120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Композер и подвал со счётчиком стоимости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3885" y="5029200"/>
            <a:ext cx="6063615" cy="1089184"/>
            <a:chOff x="603885" y="5029200"/>
            <a:chExt cx="6063615" cy="1089184"/>
          </a:xfrm>
        </p:grpSpPr>
        <p:sp>
          <p:nvSpPr>
            <p:cNvPr id="23" name="Line 23"/>
            <p:cNvSpPr/>
            <p:nvPr/>
          </p:nvSpPr>
          <p:spPr>
            <a:xfrm>
              <a:off x="609600" y="50292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3885" y="5212556"/>
              <a:ext cx="4819142" cy="905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/ — slash-команды агента, @ — автодополнение файлов рабочей папки.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Вложения: кнопка скрепки, Ctrl/Cmd+V или Shift-перетаскивание.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Cmd/Ctrl+Alt+L отправляет выделение вместе с диапазоном строк.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Shift+Enter — перенос строки, Esc — прервать ход.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086600" y="1676400"/>
            <a:ext cx="4495800" cy="4610100"/>
            <a:chOff x="7086600" y="1676400"/>
            <a:chExt cx="4495800" cy="4610100"/>
          </a:xfrm>
        </p:grpSpPr>
        <p:sp>
          <p:nvSpPr>
            <p:cNvPr id="26" name="Rectangle 26"/>
            <p:cNvSpPr/>
            <p:nvPr/>
          </p:nvSpPr>
          <p:spPr>
            <a:xfrm>
              <a:off x="7086600" y="1676400"/>
              <a:ext cx="4495800" cy="461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34350" y="2057400"/>
              <a:ext cx="2400300" cy="3771900"/>
            </a:xfrm>
            <a:prstGeom prst="rect">
              <a:avLst/>
            </a:prstGeom>
          </p:spPr>
        </p:pic>
        <p:sp>
          <p:nvSpPr>
            <p:cNvPr id="28" name="Ellipse 28"/>
            <p:cNvSpPr/>
            <p:nvPr/>
          </p:nvSpPr>
          <p:spPr>
            <a:xfrm>
              <a:off x="7496175" y="24288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70749" y="2488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781925" y="25527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496175" y="34194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70749" y="34790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781925" y="35433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496175" y="44100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70749" y="4469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781925" y="45339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496175" y="54006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70749" y="54602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781925" y="552450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39866" y="5974556"/>
              <a:ext cx="43892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Панель: рассуждение, вызов инструмента, ответ, композер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42" name="TextBox 42"/>
            <p:cNvSpPr txBox="1"/>
            <p:nvPr/>
          </p:nvSpPr>
          <p:spPr>
            <a:xfrm>
              <a:off x="603885" y="6431756"/>
              <a:ext cx="1305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Как пользоваться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698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КАК ПОЛЬЗОВАТЬСЯ · МОДЕЛИ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818008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Переключайте модель и следите за счётом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3885" y="1574006"/>
            <a:ext cx="4901838" cy="220028"/>
            <a:chOff x="603885" y="1574006"/>
            <a:chExt cx="4901838" cy="220028"/>
          </a:xfrm>
        </p:grpSpPr>
        <p:sp>
          <p:nvSpPr>
            <p:cNvPr id="6" name="TextBox 6"/>
            <p:cNvSpPr txBox="1"/>
            <p:nvPr/>
          </p:nvSpPr>
          <p:spPr>
            <a:xfrm>
              <a:off x="603885" y="1574006"/>
              <a:ext cx="49018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Расширение не делает токены дешевле — оно делает трату видимой.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1980" y="1876425"/>
            <a:ext cx="4180967" cy="689133"/>
            <a:chOff x="601980" y="1876425"/>
            <a:chExt cx="4180967" cy="689133"/>
          </a:xfrm>
        </p:grpSpPr>
        <p:sp>
          <p:nvSpPr>
            <p:cNvPr id="8" name="TextBox 8"/>
            <p:cNvSpPr txBox="1"/>
            <p:nvPr/>
          </p:nvSpPr>
          <p:spPr>
            <a:xfrm>
              <a:off x="601980" y="1876425"/>
              <a:ext cx="2779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Одна панель, любая модель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885" y="2145506"/>
              <a:ext cx="41790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Claude, GLM, Qwen, Kimi и кастомные OpenAI-совместимые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провайдеры в одном списке. Переключение посреди диалога.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980" y="2619375"/>
            <a:ext cx="4960620" cy="793908"/>
            <a:chOff x="601980" y="2619375"/>
            <a:chExt cx="4960620" cy="793908"/>
          </a:xfrm>
        </p:grpSpPr>
        <p:sp>
          <p:nvSpPr>
            <p:cNvPr id="11" name="Line 11"/>
            <p:cNvSpPr/>
            <p:nvPr/>
          </p:nvSpPr>
          <p:spPr>
            <a:xfrm>
              <a:off x="609600" y="261937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1980" y="2724150"/>
              <a:ext cx="1898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Стоимость на виду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885" y="2993231"/>
              <a:ext cx="40368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 подвале композера — токены на вход, на выход и доллары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 сессию. На наведении: рассуждения и чтение кэша.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1980" y="3467100"/>
            <a:ext cx="4960620" cy="793908"/>
            <a:chOff x="601980" y="3467100"/>
            <a:chExt cx="4960620" cy="793908"/>
          </a:xfrm>
        </p:grpSpPr>
        <p:sp>
          <p:nvSpPr>
            <p:cNvPr id="15" name="Line 15"/>
            <p:cNvSpPr/>
            <p:nvPr/>
          </p:nvSpPr>
          <p:spPr>
            <a:xfrm>
              <a:off x="609600" y="34671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1980" y="3571875"/>
              <a:ext cx="26624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Рассуждения — тоже выход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3885" y="3840956"/>
              <a:ext cx="41719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Чип think: задаёт уровень на сессию. Значение auto отдаёт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решение агенту omp: он оценивает каждый запрос отдельно.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1980" y="4314825"/>
            <a:ext cx="4960620" cy="793908"/>
            <a:chOff x="601980" y="4314825"/>
            <a:chExt cx="4960620" cy="793908"/>
          </a:xfrm>
        </p:grpSpPr>
        <p:sp>
          <p:nvSpPr>
            <p:cNvPr id="19" name="Line 19"/>
            <p:cNvSpPr/>
            <p:nvPr/>
          </p:nvSpPr>
          <p:spPr>
            <a:xfrm>
              <a:off x="609600" y="4314825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1980" y="4419600"/>
              <a:ext cx="33616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Контекст не разносит незаметно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885" y="4688681"/>
              <a:ext cx="380212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 50%, 75% и 90% заполнения панель предупреждает и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предлагает сжать контекст в один клик.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1980" y="5162550"/>
            <a:ext cx="4960620" cy="793908"/>
            <a:chOff x="601980" y="5162550"/>
            <a:chExt cx="4960620" cy="793908"/>
          </a:xfrm>
        </p:grpSpPr>
        <p:sp>
          <p:nvSpPr>
            <p:cNvPr id="23" name="Line 23"/>
            <p:cNvSpPr/>
            <p:nvPr/>
          </p:nvSpPr>
          <p:spPr>
            <a:xfrm>
              <a:off x="609600" y="51625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1980" y="5267325"/>
              <a:ext cx="33090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Короткий список — это проверка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3885" y="5536406"/>
              <a:ext cx="439953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ompcode.verifyModels шлёт каждой модели один пробный запрос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 прячет нерабочие. Вердикты кэшируются на 12 часов.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43600" y="1676400"/>
            <a:ext cx="5638800" cy="4610100"/>
            <a:chOff x="5943600" y="1676400"/>
            <a:chExt cx="5638800" cy="4610100"/>
          </a:xfrm>
        </p:grpSpPr>
        <p:sp>
          <p:nvSpPr>
            <p:cNvPr id="27" name="Rectangle 27"/>
            <p:cNvSpPr/>
            <p:nvPr/>
          </p:nvSpPr>
          <p:spPr>
            <a:xfrm>
              <a:off x="5943600" y="1676400"/>
              <a:ext cx="5638800" cy="461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9350" y="2019300"/>
              <a:ext cx="2352675" cy="3695700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34450" y="2019300"/>
              <a:ext cx="2352675" cy="369570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6339268" y="5879306"/>
              <a:ext cx="2142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Выбор модели по провайдерам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67038" y="5879306"/>
              <a:ext cx="20970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Предупреждение о контексте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33" name="TextBox 33"/>
            <p:cNvSpPr txBox="1"/>
            <p:nvPr/>
          </p:nvSpPr>
          <p:spPr>
            <a:xfrm>
              <a:off x="603885" y="6431756"/>
              <a:ext cx="1305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Как пользоваться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698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КАК ПОЛЬЗОВАТЬСЯ · ДОСТУП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66086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Три уровня доступа инструментов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3885" y="1612106"/>
            <a:ext cx="5142941" cy="220028"/>
            <a:chOff x="603885" y="1612106"/>
            <a:chExt cx="5142941" cy="220028"/>
          </a:xfrm>
        </p:grpSpPr>
        <p:sp>
          <p:nvSpPr>
            <p:cNvPr id="6" name="TextBox 6"/>
            <p:cNvSpPr txBox="1"/>
            <p:nvPr/>
          </p:nvSpPr>
          <p:spPr>
            <a:xfrm>
              <a:off x="603885" y="1612106"/>
              <a:ext cx="5142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Уровень меняется чипом access: и применяется перезапуском агента.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1980" y="1943100"/>
            <a:ext cx="6065520" cy="1685925"/>
            <a:chOff x="601980" y="1943100"/>
            <a:chExt cx="6065520" cy="1685925"/>
          </a:xfrm>
        </p:grpSpPr>
        <p:sp>
          <p:nvSpPr>
            <p:cNvPr id="8" name="Line 8"/>
            <p:cNvSpPr/>
            <p:nvPr/>
          </p:nvSpPr>
          <p:spPr>
            <a:xfrm>
              <a:off x="609600" y="19431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1980" y="206692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Уровень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47720" y="2066925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Чтение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53226" y="2066925"/>
              <a:ext cx="1485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Запись файлов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67701" y="2066925"/>
              <a:ext cx="1485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Запуск команд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23622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1980" y="2486025"/>
              <a:ext cx="1115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always-ask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78741" y="24860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32860" y="248602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спрашивает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47335" y="248602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спрашивает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27813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1980" y="2905125"/>
              <a:ext cx="5604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write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78741" y="29051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66044" y="29051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47335" y="290512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спрашивает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2004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1980" y="3324225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yolo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78741" y="33242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66044" y="33242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80520" y="33242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авто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361950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03885" y="3726656"/>
            <a:ext cx="5731082" cy="220028"/>
            <a:chOff x="603885" y="3726656"/>
            <a:chExt cx="5731082" cy="220028"/>
          </a:xfrm>
        </p:grpSpPr>
        <p:sp>
          <p:nvSpPr>
            <p:cNvPr id="30" name="TextBox 30"/>
            <p:cNvSpPr txBox="1"/>
            <p:nvPr/>
          </p:nvSpPr>
          <p:spPr>
            <a:xfrm>
              <a:off x="603885" y="3726656"/>
              <a:ext cx="57310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Всё, что спрашивает, открывает диалог с именем инструмента и аргументами.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4076700"/>
            <a:ext cx="6057900" cy="2209800"/>
            <a:chOff x="609600" y="4076700"/>
            <a:chExt cx="6057900" cy="2209800"/>
          </a:xfrm>
        </p:grpSpPr>
        <p:sp>
          <p:nvSpPr>
            <p:cNvPr id="32" name="Rectangle 32"/>
            <p:cNvSpPr/>
            <p:nvPr/>
          </p:nvSpPr>
          <p:spPr>
            <a:xfrm>
              <a:off x="609600" y="4076700"/>
              <a:ext cx="6057900" cy="2209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9600" y="4076700"/>
              <a:ext cx="28575" cy="220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62808" y="4333875"/>
              <a:ext cx="179383" cy="171450"/>
              <a:chOff x="862808" y="4333875"/>
              <a:chExt cx="179383" cy="1714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62808" y="4333875"/>
                <a:ext cx="17938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9383" h="171450">
                    <a:moveTo>
                      <a:pt x="89692" y="0"/>
                    </a:moveTo>
                    <a:cubicBezTo>
                      <a:pt x="111940" y="19684"/>
                      <a:pt x="140979" y="29933"/>
                      <a:pt x="170654" y="28575"/>
                    </a:cubicBezTo>
                    <a:cubicBezTo>
                      <a:pt x="179383" y="58269"/>
                      <a:pt x="175697" y="90235"/>
                      <a:pt x="160438" y="117163"/>
                    </a:cubicBezTo>
                    <a:cubicBezTo>
                      <a:pt x="145178" y="144091"/>
                      <a:pt x="119651" y="163679"/>
                      <a:pt x="89692" y="171450"/>
                    </a:cubicBezTo>
                    <a:cubicBezTo>
                      <a:pt x="59732" y="163679"/>
                      <a:pt x="34205" y="144091"/>
                      <a:pt x="18946" y="117163"/>
                    </a:cubicBezTo>
                    <a:cubicBezTo>
                      <a:pt x="3686" y="90235"/>
                      <a:pt x="0" y="58269"/>
                      <a:pt x="8729" y="28575"/>
                    </a:cubicBezTo>
                    <a:cubicBezTo>
                      <a:pt x="38405" y="29933"/>
                      <a:pt x="67443" y="19684"/>
                      <a:pt x="89692" y="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42975" y="44005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52500" y="4419600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211580" y="4333875"/>
              <a:ext cx="1898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Оговорка про task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485" y="4774406"/>
              <a:ext cx="5096510" cy="1058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Подтверждение одного вызова task отдаёт субагенту тот же уровень: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одобренная задача может запускать команды без повторного спроса.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Правила под конкретный инструмент — tools.approval в оверлее профиля —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соблюдаются даже под yolo. Это надёжный способ закрыть один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инструмент наглухо.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086600" y="1676400"/>
            <a:ext cx="4495800" cy="4610100"/>
            <a:chOff x="7086600" y="1676400"/>
            <a:chExt cx="4495800" cy="4610100"/>
          </a:xfrm>
        </p:grpSpPr>
        <p:sp>
          <p:nvSpPr>
            <p:cNvPr id="41" name="Rectangle 41"/>
            <p:cNvSpPr/>
            <p:nvPr/>
          </p:nvSpPr>
          <p:spPr>
            <a:xfrm>
              <a:off x="7086600" y="1676400"/>
              <a:ext cx="4495800" cy="461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0" y="2057400"/>
              <a:ext cx="1905000" cy="2990850"/>
            </a:xfrm>
            <a:prstGeom prst="rect">
              <a:avLst/>
            </a:prstGeom>
          </p:spPr>
        </p:pic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48800" y="2057400"/>
              <a:ext cx="1905000" cy="299085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7497445" y="5269706"/>
              <a:ext cx="15405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Меню выбора уровня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доступа инструментов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31045" y="5269706"/>
              <a:ext cx="154051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Диалог подтверждения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запуска команды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47" name="TextBox 47"/>
            <p:cNvSpPr txBox="1"/>
            <p:nvPr/>
          </p:nvSpPr>
          <p:spPr>
            <a:xfrm>
              <a:off x="603885" y="6431756"/>
              <a:ext cx="13054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Как пользоваться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1731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СПРАВОЧНИК · ПРОФИЛИ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77168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Профили моделей: конвенции семейства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01980" y="1781175"/>
            <a:ext cx="5530215" cy="1093470"/>
            <a:chOff x="601980" y="1781175"/>
            <a:chExt cx="5530215" cy="10934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781175"/>
              <a:ext cx="5530215" cy="10934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Claude Code читает CLAUDE.md и подтверждает</a:t>
              </a:r>
              <a:br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консервативно; Qwen Code читает QWEN.md и по умолчанию</a:t>
              </a:r>
              <a:br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 уровень свободнее. Вы выбираете модель — профиль</a:t>
              </a:r>
              <a:br/>
              <a:r>
                <a:rPr lang="ru-RU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подтягивает конвенции её семейства.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3885" y="2983706"/>
            <a:ext cx="4698238" cy="1420178"/>
            <a:chOff x="603885" y="2983706"/>
            <a:chExt cx="4698238" cy="1420178"/>
          </a:xfrm>
        </p:grpSpPr>
        <p:sp>
          <p:nvSpPr>
            <p:cNvPr id="8" name="TextBox 8"/>
            <p:cNvSpPr txBox="1"/>
            <p:nvPr/>
          </p:nvSpPr>
          <p:spPr>
            <a:xfrm>
              <a:off x="603885" y="2983706"/>
              <a:ext cx="469823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Бейдж рядом с чипом модели называет семейство. Клик открывает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инспектор: каждое значение и его источник — встроенное или ваше.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885" y="3593306"/>
              <a:ext cx="452043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thinking и tool access правятся прямо в инспекторе — значение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пишется в ompcode.modelProfiles правилом для всего семейства.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4183856"/>
              <a:ext cx="42537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Встроенные семейства: claude, glm, qwen, kimi, generic.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4743450"/>
            <a:ext cx="6057900" cy="1543050"/>
            <a:chOff x="609600" y="4743450"/>
            <a:chExt cx="6057900" cy="1543050"/>
          </a:xfrm>
        </p:grpSpPr>
        <p:sp>
          <p:nvSpPr>
            <p:cNvPr id="12" name="Rectangle 12"/>
            <p:cNvSpPr/>
            <p:nvPr/>
          </p:nvSpPr>
          <p:spPr>
            <a:xfrm>
              <a:off x="609600" y="4743450"/>
              <a:ext cx="6057900" cy="1543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4743450"/>
              <a:ext cx="28575" cy="1543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73125" y="4987925"/>
              <a:ext cx="139700" cy="139701"/>
              <a:chOff x="873125" y="4987925"/>
              <a:chExt cx="139700" cy="1397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73125" y="502285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90588" y="49879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90588" y="5057775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25513" y="5075238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42975" y="4987925"/>
                <a:ext cx="9525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313">
                    <a:moveTo>
                      <a:pt x="0" y="0"/>
                    </a:moveTo>
                    <a:lnTo>
                      <a:pt x="0" y="87313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42975" y="5110163"/>
                <a:ext cx="9525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3">
                    <a:moveTo>
                      <a:pt x="0" y="0"/>
                    </a:moveTo>
                    <a:lnTo>
                      <a:pt x="0" y="17463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77900" y="4996656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995363" y="49879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8731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95363" y="5031581"/>
                <a:ext cx="9525" cy="960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6044">
                    <a:moveTo>
                      <a:pt x="0" y="0"/>
                    </a:moveTo>
                    <a:lnTo>
                      <a:pt x="0" y="96044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173480" y="4962525"/>
              <a:ext cx="2195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Чип не равен профилю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485" y="5384006"/>
              <a:ext cx="5196078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Чипы think: и access: правят текущую сессию. Профиль — это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постоянное правило для всех моделей семейства, поэтому его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изменение перезапускает агента. Перезапуск тёплый: диалог переезжает.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086600" y="1676400"/>
            <a:ext cx="4495800" cy="4610100"/>
            <a:chOff x="7086600" y="1676400"/>
            <a:chExt cx="4495800" cy="4610100"/>
          </a:xfrm>
        </p:grpSpPr>
        <p:sp>
          <p:nvSpPr>
            <p:cNvPr id="27" name="Rectangle 27"/>
            <p:cNvSpPr/>
            <p:nvPr/>
          </p:nvSpPr>
          <p:spPr>
            <a:xfrm>
              <a:off x="7086600" y="1676400"/>
              <a:ext cx="4495800" cy="4610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5200" y="2057400"/>
              <a:ext cx="1905000" cy="2990850"/>
            </a:xfrm>
            <a:prstGeom prst="rect">
              <a:avLst/>
            </a:prstGeom>
          </p:spPr>
        </p:pic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48800" y="2057400"/>
              <a:ext cx="1905000" cy="299085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415657" y="5269706"/>
              <a:ext cx="1704086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Инспектор профиля: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значение и его источник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27489" y="5269706"/>
              <a:ext cx="1547622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Лестница мышления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и сброс к встроенному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33" name="TextBox 33"/>
            <p:cNvSpPr txBox="1"/>
            <p:nvPr/>
          </p:nvSpPr>
          <p:spPr>
            <a:xfrm>
              <a:off x="603885" y="6431756"/>
              <a:ext cx="845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Справочник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513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СПРАВОЧНИК · УПРАВЛЕНИЕ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761637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История, меню шестерёнки и настройки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980" y="1781175"/>
            <a:ext cx="5126863" cy="946309"/>
            <a:chOff x="601980" y="1781175"/>
            <a:chExt cx="5126863" cy="946309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78117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История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885" y="2088356"/>
              <a:ext cx="5124958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Все сессии по всем рабочим папкам, с фильтром по названию, превью,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папке и модели. Выбор переподключает агента и проигрывает транскрипт.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Export transcript as Markdown выгружает весь диалог в файл.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980" y="2867025"/>
            <a:ext cx="4849495" cy="736759"/>
            <a:chOff x="601980" y="2867025"/>
            <a:chExt cx="4849495" cy="736759"/>
          </a:xfrm>
        </p:grpSpPr>
        <p:sp>
          <p:nvSpPr>
            <p:cNvPr id="9" name="TextBox 9"/>
            <p:cNvSpPr txBox="1"/>
            <p:nvPr/>
          </p:nvSpPr>
          <p:spPr>
            <a:xfrm>
              <a:off x="601980" y="2867025"/>
              <a:ext cx="1718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Меню шестерёнки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3174206"/>
              <a:ext cx="4847590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Новая вкладка, очистка сессии, экспорт, вход, ключи, перепроверка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моделей, диагностика, сжатие контекста, перезапуск агента.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086600" y="1676400"/>
            <a:ext cx="4495800" cy="2590800"/>
            <a:chOff x="7086600" y="1676400"/>
            <a:chExt cx="4495800" cy="2590800"/>
          </a:xfrm>
        </p:grpSpPr>
        <p:sp>
          <p:nvSpPr>
            <p:cNvPr id="12" name="Rectangle 12"/>
            <p:cNvSpPr/>
            <p:nvPr/>
          </p:nvSpPr>
          <p:spPr>
            <a:xfrm>
              <a:off x="7086600" y="1676400"/>
              <a:ext cx="4495800" cy="2590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81950" y="1905000"/>
              <a:ext cx="1238250" cy="1943100"/>
            </a:xfrm>
            <a:prstGeom prst="rect">
              <a:avLst/>
            </a:prstGeom>
          </p:spPr>
        </p:pic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48800" y="1905000"/>
              <a:ext cx="1238250" cy="1943100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8031280" y="3974306"/>
              <a:ext cx="11395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История сессий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539585" y="3974306"/>
              <a:ext cx="1056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Меню настроек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3885" y="4343400"/>
            <a:ext cx="10978515" cy="2003584"/>
            <a:chOff x="603885" y="4343400"/>
            <a:chExt cx="10978515" cy="2003584"/>
          </a:xfrm>
        </p:grpSpPr>
        <p:sp>
          <p:nvSpPr>
            <p:cNvPr id="18" name="Line 18"/>
            <p:cNvSpPr/>
            <p:nvPr/>
          </p:nvSpPr>
          <p:spPr>
            <a:xfrm>
              <a:off x="609600" y="4343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3885" y="4374356"/>
              <a:ext cx="800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Настройка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99535" y="4374356"/>
              <a:ext cx="1021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 умолчанию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2135" y="4374356"/>
              <a:ext cx="847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5624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3885" y="4593431"/>
              <a:ext cx="1320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ompcode.ompPath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99535" y="459343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52135" y="4593431"/>
              <a:ext cx="181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Путь к бинарнику агента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09600" y="4781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3885" y="4812506"/>
              <a:ext cx="1330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ompcode.language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99535" y="48125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auto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52135" y="4812506"/>
              <a:ext cx="1774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Язык чата: auto, en, ru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09600" y="5000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3885" y="5031581"/>
              <a:ext cx="1659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ompcode.defaultModel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99535" y="503158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пусто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52135" y="5031581"/>
              <a:ext cx="3846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provider/modelId при старте, нестрогое совпадение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09600" y="5219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3885" y="5250656"/>
              <a:ext cx="1659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ompcode.verifyModels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99535" y="52506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true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52135" y="5250656"/>
              <a:ext cx="3476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Проверять каждую модель и скрывать нерабочие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09600" y="54387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03885" y="5469731"/>
              <a:ext cx="1674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ompcode.thinkingLevel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99535" y="54697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auto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52135" y="5469731"/>
              <a:ext cx="17659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 off до max либо auto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" y="56578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3885" y="5688806"/>
              <a:ext cx="16975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ompcode.approvalMode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99535" y="5688806"/>
              <a:ext cx="833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always-ask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52135" y="5688806"/>
              <a:ext cx="17905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always-ask, write, yolo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609600" y="5876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3885" y="5907881"/>
              <a:ext cx="17048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ompcode.modelProfiles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99535" y="59078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[]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52135" y="5907881"/>
              <a:ext cx="3099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Профили под семейства поверх встроенных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09600" y="6096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3885" y="6126956"/>
              <a:ext cx="1946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ompcode.customProviders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99535" y="61269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{}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652135" y="6126956"/>
              <a:ext cx="32053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Дополнительные провайдеры для models.yml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09600" y="6315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56" name="TextBox 56"/>
            <p:cNvSpPr txBox="1"/>
            <p:nvPr/>
          </p:nvSpPr>
          <p:spPr>
            <a:xfrm>
              <a:off x="603885" y="6431756"/>
              <a:ext cx="8453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Справочник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602456"/>
            <a:ext cx="10987278" cy="835819"/>
            <a:chOff x="595122" y="602456"/>
            <a:chExt cx="10987278" cy="8358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602456"/>
              <a:ext cx="262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СПРАВОЧНИК · ДИАГНОСТИКА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48371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Если что-то не работает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428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609600" y="1714500"/>
            <a:ext cx="6057900" cy="457200"/>
            <a:chOff x="609600" y="1714500"/>
            <a:chExt cx="6057900" cy="45720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60579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714500"/>
              <a:ext cx="28575" cy="4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66775" y="1857375"/>
              <a:ext cx="180975" cy="171450"/>
              <a:chOff x="866775" y="1857375"/>
              <a:chExt cx="180975" cy="1714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66775" y="1866900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28575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2388"/>
                    </a:lnTo>
                    <a:cubicBezTo>
                      <a:pt x="0" y="81320"/>
                      <a:pt x="23455" y="104775"/>
                      <a:pt x="52388" y="104775"/>
                    </a:cubicBezTo>
                    <a:cubicBezTo>
                      <a:pt x="81320" y="104775"/>
                      <a:pt x="104775" y="81320"/>
                      <a:pt x="104775" y="52388"/>
                    </a:cubicBezTo>
                    <a:lnTo>
                      <a:pt x="104775" y="19050"/>
                    </a:lnTo>
                    <a:cubicBezTo>
                      <a:pt x="104775" y="8529"/>
                      <a:pt x="96246" y="0"/>
                      <a:pt x="85725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14400" y="1943100"/>
                <a:ext cx="1143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85725">
                    <a:moveTo>
                      <a:pt x="0" y="28575"/>
                    </a:moveTo>
                    <a:cubicBezTo>
                      <a:pt x="0" y="60138"/>
                      <a:pt x="25587" y="85725"/>
                      <a:pt x="57150" y="85725"/>
                    </a:cubicBezTo>
                    <a:cubicBezTo>
                      <a:pt x="88713" y="85725"/>
                      <a:pt x="114300" y="60138"/>
                      <a:pt x="114300" y="28575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42975" y="18573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95350" y="1857375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9650" y="19050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173480" y="1847850"/>
              <a:ext cx="2662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OMP Code: Run Diagnostics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3885" y="2297906"/>
            <a:ext cx="5060950" cy="639128"/>
            <a:chOff x="603885" y="2297906"/>
            <a:chExt cx="5060950" cy="639128"/>
          </a:xfrm>
        </p:grpSpPr>
        <p:sp>
          <p:nvSpPr>
            <p:cNvPr id="16" name="TextBox 16"/>
            <p:cNvSpPr txBox="1"/>
            <p:nvPr/>
          </p:nvSpPr>
          <p:spPr>
            <a:xfrm>
              <a:off x="603885" y="2297906"/>
              <a:ext cx="5060950" cy="6391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Отчёт показывает путь к бинарнику, вывод omp --version, проходит ли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хендшейк, у каких провайдеров есть учётные данные, какие модели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предлагает агент. Значений ключей в нём нет — можно приложить к issue.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1980" y="3105150"/>
            <a:ext cx="6065520" cy="917734"/>
            <a:chOff x="601980" y="3105150"/>
            <a:chExt cx="6065520" cy="917734"/>
          </a:xfrm>
        </p:grpSpPr>
        <p:sp>
          <p:nvSpPr>
            <p:cNvPr id="18" name="Line 18"/>
            <p:cNvSpPr/>
            <p:nvPr/>
          </p:nvSpPr>
          <p:spPr>
            <a:xfrm>
              <a:off x="609600" y="310515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1980" y="3305175"/>
              <a:ext cx="2778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Cannot find the omp binary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3885" y="3593306"/>
              <a:ext cx="420039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CLI не установлен или не в том PATH, который видит VS Code.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Укажите полный путь в ompcode.ompPath.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1980" y="4171950"/>
            <a:ext cx="6065520" cy="879634"/>
            <a:chOff x="601980" y="4171950"/>
            <a:chExt cx="6065520" cy="879634"/>
          </a:xfrm>
        </p:grpSpPr>
        <p:sp>
          <p:nvSpPr>
            <p:cNvPr id="22" name="Line 22"/>
            <p:cNvSpPr/>
            <p:nvPr/>
          </p:nvSpPr>
          <p:spPr>
            <a:xfrm>
              <a:off x="609600" y="417195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1980" y="4333875"/>
              <a:ext cx="1023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Везде 401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3885" y="4622006"/>
              <a:ext cx="4363974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Протухший ключ. Удалите его командой OMP Code: Clear Stored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API Key — входы по подписке это не затронет.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1980" y="5162550"/>
            <a:ext cx="6065520" cy="879634"/>
            <a:chOff x="601980" y="5162550"/>
            <a:chExt cx="6065520" cy="879634"/>
          </a:xfrm>
        </p:grpSpPr>
        <p:sp>
          <p:nvSpPr>
            <p:cNvPr id="26" name="Line 26"/>
            <p:cNvSpPr/>
            <p:nvPr/>
          </p:nvSpPr>
          <p:spPr>
            <a:xfrm>
              <a:off x="609600" y="5162550"/>
              <a:ext cx="6057900" cy="9525"/>
            </a:xfrm>
            <a:custGeom>
              <a:avLst/>
              <a:gdLst/>
              <a:ahLst/>
              <a:cxnLst/>
              <a:rect l="l" t="t" r="r" b="b"/>
              <a:pathLst>
                <a:path w="6057900" h="9525">
                  <a:moveTo>
                    <a:pt x="0" y="0"/>
                  </a:moveTo>
                  <a:lnTo>
                    <a:pt x="60579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1980" y="5324475"/>
              <a:ext cx="2598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Список моделей короткий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3885" y="5612606"/>
              <a:ext cx="473379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Проверка скрыла нерабочие. Пункт Show all models в выборе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модели их покажет, Re-check subscriptions перезапустит проверку.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080885" y="1676400"/>
            <a:ext cx="4501515" cy="1755934"/>
            <a:chOff x="7080885" y="1676400"/>
            <a:chExt cx="4501515" cy="1755934"/>
          </a:xfrm>
        </p:grpSpPr>
        <p:sp>
          <p:nvSpPr>
            <p:cNvPr id="30" name="Line 30"/>
            <p:cNvSpPr/>
            <p:nvPr/>
          </p:nvSpPr>
          <p:spPr>
            <a:xfrm>
              <a:off x="7086600" y="16764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80885" y="1726406"/>
              <a:ext cx="6258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Клавиши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81110" y="1726406"/>
              <a:ext cx="712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Действие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7086600" y="19240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80885" y="1974056"/>
              <a:ext cx="11809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Cmd/Ctrl+Alt+O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81110" y="1974056"/>
              <a:ext cx="23911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Открыть чат вкладкой редактора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086600" y="21717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80885" y="2221706"/>
              <a:ext cx="1150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Cmd/Ctrl+Alt+N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81110" y="2221706"/>
              <a:ext cx="1433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Новая вкладка чата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7086600" y="24193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80885" y="2469356"/>
              <a:ext cx="1150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Cmd/Ctrl+Alt+L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81110" y="2469356"/>
              <a:ext cx="19765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Отправить выделение в чат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7086600" y="26670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80885" y="2717006"/>
              <a:ext cx="895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Shift+Enter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81110" y="2717006"/>
              <a:ext cx="20594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Перенос строки в композере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7086600" y="29146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80885" y="2964656"/>
              <a:ext cx="264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Esc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81110" y="2964656"/>
              <a:ext cx="15995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Прервать текущий ход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7086600" y="31623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80885" y="3212306"/>
              <a:ext cx="1056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Стрелка вверх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881110" y="3212306"/>
              <a:ext cx="13883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Предыдущий промпт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086600" y="340995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7102475" y="3612356"/>
            <a:ext cx="2776728" cy="429578"/>
            <a:chOff x="7102475" y="3612356"/>
            <a:chExt cx="2776728" cy="429578"/>
          </a:xfrm>
        </p:grpSpPr>
        <p:grpSp>
          <p:nvGrpSpPr>
            <p:cNvPr id="61" name="Group 61"/>
            <p:cNvGrpSpPr/>
            <p:nvPr/>
          </p:nvGrpSpPr>
          <p:grpSpPr>
            <a:xfrm>
              <a:off x="7102475" y="3629025"/>
              <a:ext cx="158750" cy="95250"/>
              <a:chOff x="7102475" y="3629025"/>
              <a:chExt cx="158750" cy="9525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102475" y="3629025"/>
                <a:ext cx="1587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142875" y="0"/>
                    </a:lnTo>
                    <a:cubicBezTo>
                      <a:pt x="151642" y="0"/>
                      <a:pt x="158750" y="7107"/>
                      <a:pt x="158750" y="15875"/>
                    </a:cubicBezTo>
                    <a:lnTo>
                      <a:pt x="158750" y="79375"/>
                    </a:lnTo>
                    <a:cubicBezTo>
                      <a:pt x="158750" y="88142"/>
                      <a:pt x="151642" y="95250"/>
                      <a:pt x="1428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2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34225" y="3660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165975" y="3660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7197725" y="3660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29475" y="3660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134225" y="3692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29475" y="36925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165975" y="3692525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79"/>
                    </a:lnTo>
                  </a:path>
                </a:pathLst>
              </a:custGeom>
              <a:noFill/>
              <a:ln w="15875">
                <a:solidFill>
                  <a:srgbClr val="6B667E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7385685" y="3612356"/>
              <a:ext cx="24935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Все шестнадцать команд — в палитре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под префиксом OMP Code: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078980" y="4152900"/>
            <a:ext cx="4503420" cy="1355884"/>
            <a:chOff x="7078980" y="4152900"/>
            <a:chExt cx="4503420" cy="1355884"/>
          </a:xfrm>
        </p:grpSpPr>
        <p:sp>
          <p:nvSpPr>
            <p:cNvPr id="64" name="Line 64"/>
            <p:cNvSpPr/>
            <p:nvPr/>
          </p:nvSpPr>
          <p:spPr>
            <a:xfrm>
              <a:off x="7086600" y="4152900"/>
              <a:ext cx="4495800" cy="9525"/>
            </a:xfrm>
            <a:custGeom>
              <a:avLst/>
              <a:gdLst/>
              <a:ahLst/>
              <a:cxnLst/>
              <a:rect l="l" t="t" r="r" b="b"/>
              <a:pathLst>
                <a:path w="4495800" h="9525">
                  <a:moveTo>
                    <a:pt x="0" y="0"/>
                  </a:moveTo>
                  <a:lnTo>
                    <a:pt x="4495800" y="0"/>
                  </a:lnTo>
                </a:path>
              </a:pathLst>
            </a:custGeom>
            <a:noFill/>
            <a:ln w="9525">
              <a:solidFill>
                <a:srgbClr val="DDD8EE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78980" y="4352925"/>
              <a:ext cx="1071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Платформы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80885" y="4660106"/>
              <a:ext cx="3432302" cy="848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Чистый JavaScript: .vsix ставится на macOS,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Linux и Windows. Нативная часть только у omp: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darwin-arm64/x64, linux-x64/arm64, win32-x64.</a:t>
              </a:r>
              <a:br/>
              <a:r>
                <a:rPr lang="ru-RU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Windows на ARM не поддерживается.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080885" y="5650706"/>
            <a:ext cx="3204718" cy="429578"/>
            <a:chOff x="7080885" y="5650706"/>
            <a:chExt cx="3204718" cy="429578"/>
          </a:xfrm>
        </p:grpSpPr>
        <p:sp>
          <p:nvSpPr>
            <p:cNvPr id="68" name="TextBox 68"/>
            <p:cNvSpPr txBox="1"/>
            <p:nvPr/>
          </p:nvSpPr>
          <p:spPr>
            <a:xfrm>
              <a:off x="7080885" y="5650706"/>
              <a:ext cx="3204718" cy="4295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ompcode.language не зависит от языка</a:t>
              </a:r>
              <a:br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интерфейса VS Code — Language Pack не нужен.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03885" y="6431756"/>
            <a:ext cx="10984230" cy="220028"/>
            <a:chOff x="603885" y="6431756"/>
            <a:chExt cx="10984230" cy="220028"/>
          </a:xfrm>
        </p:grpSpPr>
        <p:sp>
          <p:nvSpPr>
            <p:cNvPr id="70" name="TextBox 70"/>
            <p:cNvSpPr txBox="1"/>
            <p:nvPr/>
          </p:nvSpPr>
          <p:spPr>
            <a:xfrm>
              <a:off x="603885" y="6431756"/>
              <a:ext cx="8776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Полная документация, оставшиеся настройки и кастомные провайдеры — github.com/cryptotyan-star/omp-code-vscode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410833" y="64317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ru-RU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mp-code-guide">
  <a:themeElements>
    <a:clrScheme name="omp-code-guide">
      <a:dk1>
        <a:srgbClr val="1D1B26"/>
      </a:dk1>
      <a:lt1>
        <a:srgbClr val="FFFFFF"/>
      </a:lt1>
      <a:dk2>
        <a:srgbClr val="1F497D"/>
      </a:dk2>
      <a:lt2>
        <a:srgbClr val="F4F3FA"/>
      </a:lt2>
      <a:accent1>
        <a:srgbClr val="2A2440"/>
      </a:accent1>
      <a:accent2>
        <a:srgbClr val="6F5CE8"/>
      </a:accent2>
      <a:accent3>
        <a:srgbClr val="4EC9A6"/>
      </a:accent3>
      <a:accent4>
        <a:srgbClr val="2A2440"/>
      </a:accent4>
      <a:accent5>
        <a:srgbClr val="16141F"/>
      </a:accent5>
      <a:accent6>
        <a:srgbClr val="6B667E"/>
      </a:accent6>
      <a:hlink>
        <a:srgbClr val="6F5CE8"/>
      </a:hlink>
      <a:folHlink>
        <a:srgbClr val="4EC9A6"/>
      </a:folHlink>
    </a:clrScheme>
    <a:fontScheme name="omp-code-guide">
      <a:majorFont>
        <a:latin typeface="Golos Text"/>
        <a:ea typeface="Microsoft YaHei"/>
        <a:cs typeface="Golos Text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olos Text"/>
        <a:ea typeface="Microsoft YaHei"/>
        <a:cs typeface="Golos Text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mp-code-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ru-RU</dc:language>
  <cp:lastModifiedBy/>
  <cp:revision>1</cp:revision>
  <dcterms:created xsi:type="dcterms:W3CDTF">2026-08-23T17:27:23Z</dcterms:created>
  <dcterms:modified xsi:type="dcterms:W3CDTF">2026-08-23T17:27:23Z</dcterms:modified>
  <cp:category/>
  <cp:contentStatus/>
</cp:coreProperties>
</file>